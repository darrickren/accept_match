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2"/>
  </p:normalViewPr>
  <p:slideViewPr>
    <p:cSldViewPr snapToGrid="0">
      <p:cViewPr varScale="1">
        <p:scale>
          <a:sx n="75" d="100"/>
          <a:sy n="75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loopreturns.com/en/articles/956582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profile-title">
            <a:extLst>
              <a:ext uri="{FF2B5EF4-FFF2-40B4-BE49-F238E27FC236}">
                <a16:creationId xmlns:a16="http://schemas.microsoft.com/office/drawing/2014/main" id="{0CAC3EE3-AADB-4CBB-9732-48E66CECA215}"/>
              </a:ext>
            </a:extLst>
          </p:cNvPr>
          <p:cNvSpPr>
            <a:spLocks noGrp="1"/>
          </p:cNvSpPr>
          <p:nvPr/>
        </p:nvSpPr>
        <p:spPr>
          <a:xfrm>
            <a:off x="1028700" y="1054100"/>
            <a:ext cx="12954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6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ACCEPTMATCH TEAM</a:t>
            </a:r>
          </a:p>
        </p:txBody>
      </p:sp>
      <p:sp>
        <p:nvSpPr>
          <p:cNvPr id="3" name="member-1-name">
            <a:extLst>
              <a:ext uri="{FF2B5EF4-FFF2-40B4-BE49-F238E27FC236}">
                <a16:creationId xmlns:a16="http://schemas.microsoft.com/office/drawing/2014/main" id="{4642F4AA-D9B5-4264-8D0A-F729A8B6B272}"/>
              </a:ext>
            </a:extLst>
          </p:cNvPr>
          <p:cNvSpPr>
            <a:spLocks noGrp="1"/>
          </p:cNvSpPr>
          <p:nvPr/>
        </p:nvSpPr>
        <p:spPr>
          <a:xfrm>
            <a:off x="1028700" y="5448300"/>
            <a:ext cx="34290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Hengru Zhou</a:t>
            </a:r>
          </a:p>
        </p:txBody>
      </p:sp>
      <p:sp>
        <p:nvSpPr>
          <p:cNvPr id="4" name="member-1-role">
            <a:extLst>
              <a:ext uri="{FF2B5EF4-FFF2-40B4-BE49-F238E27FC236}">
                <a16:creationId xmlns:a16="http://schemas.microsoft.com/office/drawing/2014/main" id="{512A31AE-B854-46E5-828D-1DA0BF88EE95}"/>
              </a:ext>
            </a:extLst>
          </p:cNvPr>
          <p:cNvSpPr>
            <a:spLocks noGrp="1"/>
          </p:cNvSpPr>
          <p:nvPr/>
        </p:nvSpPr>
        <p:spPr>
          <a:xfrm>
            <a:off x="4442206" y="2781300"/>
            <a:ext cx="4064000" cy="965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Project Lead &amp;</a:t>
            </a:r>
          </a:p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Solution Design</a:t>
            </a:r>
          </a:p>
        </p:txBody>
      </p:sp>
      <p:sp>
        <p:nvSpPr>
          <p:cNvPr id="5" name="member-2-name">
            <a:extLst>
              <a:ext uri="{FF2B5EF4-FFF2-40B4-BE49-F238E27FC236}">
                <a16:creationId xmlns:a16="http://schemas.microsoft.com/office/drawing/2014/main" id="{A75B01BC-767A-4CDB-B231-0B4C2B11111E}"/>
              </a:ext>
            </a:extLst>
          </p:cNvPr>
          <p:cNvSpPr>
            <a:spLocks noGrp="1"/>
          </p:cNvSpPr>
          <p:nvPr/>
        </p:nvSpPr>
        <p:spPr>
          <a:xfrm>
            <a:off x="1028700" y="9110472"/>
            <a:ext cx="34290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Yanyu Ren</a:t>
            </a:r>
          </a:p>
        </p:txBody>
      </p:sp>
      <p:sp>
        <p:nvSpPr>
          <p:cNvPr id="6" name="member-2-role">
            <a:extLst>
              <a:ext uri="{FF2B5EF4-FFF2-40B4-BE49-F238E27FC236}">
                <a16:creationId xmlns:a16="http://schemas.microsoft.com/office/drawing/2014/main" id="{C7379EBA-D10B-4A21-A6BA-68896A00E376}"/>
              </a:ext>
            </a:extLst>
          </p:cNvPr>
          <p:cNvSpPr>
            <a:spLocks noGrp="1"/>
          </p:cNvSpPr>
          <p:nvPr/>
        </p:nvSpPr>
        <p:spPr>
          <a:xfrm>
            <a:off x="4442206" y="6426200"/>
            <a:ext cx="4064000" cy="965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Operations &amp;</a:t>
            </a:r>
          </a:p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Demo Coordination</a:t>
            </a:r>
          </a:p>
        </p:txBody>
      </p:sp>
      <p:sp>
        <p:nvSpPr>
          <p:cNvPr id="7" name="member-3-name">
            <a:extLst>
              <a:ext uri="{FF2B5EF4-FFF2-40B4-BE49-F238E27FC236}">
                <a16:creationId xmlns:a16="http://schemas.microsoft.com/office/drawing/2014/main" id="{5D25AE12-049E-4089-A5D3-A8C6A309E964}"/>
              </a:ext>
            </a:extLst>
          </p:cNvPr>
          <p:cNvSpPr>
            <a:spLocks noGrp="1"/>
          </p:cNvSpPr>
          <p:nvPr/>
        </p:nvSpPr>
        <p:spPr>
          <a:xfrm>
            <a:off x="8380222" y="5448300"/>
            <a:ext cx="34290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Zikun Xiong</a:t>
            </a:r>
          </a:p>
        </p:txBody>
      </p:sp>
      <p:sp>
        <p:nvSpPr>
          <p:cNvPr id="8" name="member-3-role">
            <a:extLst>
              <a:ext uri="{FF2B5EF4-FFF2-40B4-BE49-F238E27FC236}">
                <a16:creationId xmlns:a16="http://schemas.microsoft.com/office/drawing/2014/main" id="{1BD867BF-4496-4335-895D-278863D034EA}"/>
              </a:ext>
            </a:extLst>
          </p:cNvPr>
          <p:cNvSpPr>
            <a:spLocks noGrp="1"/>
          </p:cNvSpPr>
          <p:nvPr/>
        </p:nvSpPr>
        <p:spPr>
          <a:xfrm>
            <a:off x="11793347" y="2781300"/>
            <a:ext cx="4064000" cy="965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Research &amp;</a:t>
            </a:r>
          </a:p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Ideation</a:t>
            </a:r>
          </a:p>
        </p:txBody>
      </p:sp>
      <p:sp>
        <p:nvSpPr>
          <p:cNvPr id="9" name="member-4-name">
            <a:extLst>
              <a:ext uri="{FF2B5EF4-FFF2-40B4-BE49-F238E27FC236}">
                <a16:creationId xmlns:a16="http://schemas.microsoft.com/office/drawing/2014/main" id="{1741891F-9019-4D7D-BA8A-AA47DCF6E401}"/>
              </a:ext>
            </a:extLst>
          </p:cNvPr>
          <p:cNvSpPr>
            <a:spLocks noGrp="1"/>
          </p:cNvSpPr>
          <p:nvPr/>
        </p:nvSpPr>
        <p:spPr>
          <a:xfrm>
            <a:off x="8380222" y="9047988"/>
            <a:ext cx="34290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Jason Wang</a:t>
            </a:r>
          </a:p>
        </p:txBody>
      </p:sp>
      <p:sp>
        <p:nvSpPr>
          <p:cNvPr id="10" name="member-4-role">
            <a:extLst>
              <a:ext uri="{FF2B5EF4-FFF2-40B4-BE49-F238E27FC236}">
                <a16:creationId xmlns:a16="http://schemas.microsoft.com/office/drawing/2014/main" id="{71694B86-A62D-4BE2-BAA7-66CDBFE4C7EA}"/>
              </a:ext>
            </a:extLst>
          </p:cNvPr>
          <p:cNvSpPr>
            <a:spLocks noGrp="1"/>
          </p:cNvSpPr>
          <p:nvPr/>
        </p:nvSpPr>
        <p:spPr>
          <a:xfrm>
            <a:off x="11793347" y="6426200"/>
            <a:ext cx="4064000" cy="965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Presentation</a:t>
            </a:r>
          </a:p>
          <a:p>
            <a:pPr>
              <a:buNone/>
              <a:defRPr sz="22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Support</a:t>
            </a:r>
          </a:p>
        </p:txBody>
      </p:sp>
      <p:sp>
        <p:nvSpPr>
          <p:cNvPr id="12" name="member-1-responsibilities">
            <a:extLst>
              <a:ext uri="{FF2B5EF4-FFF2-40B4-BE49-F238E27FC236}">
                <a16:creationId xmlns:a16="http://schemas.microsoft.com/office/drawing/2014/main" id="{8A01AB2F-0444-4EDE-AFC2-3C19FBA38F6C}"/>
              </a:ext>
            </a:extLst>
          </p:cNvPr>
          <p:cNvSpPr>
            <a:spLocks noGrp="1"/>
          </p:cNvSpPr>
          <p:nvPr/>
        </p:nvSpPr>
        <p:spPr>
          <a:xfrm>
            <a:off x="4442206" y="3911600"/>
            <a:ext cx="4064000" cy="142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Proposal, business case</a:t>
            </a:r>
          </a:p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and agent workflow</a:t>
            </a:r>
          </a:p>
        </p:txBody>
      </p:sp>
      <p:sp>
        <p:nvSpPr>
          <p:cNvPr id="13" name="member-2-responsibilities">
            <a:extLst>
              <a:ext uri="{FF2B5EF4-FFF2-40B4-BE49-F238E27FC236}">
                <a16:creationId xmlns:a16="http://schemas.microsoft.com/office/drawing/2014/main" id="{B11A7997-646C-4E15-B9B1-FE6D43A3BE2E}"/>
              </a:ext>
            </a:extLst>
          </p:cNvPr>
          <p:cNvSpPr>
            <a:spLocks noGrp="1"/>
          </p:cNvSpPr>
          <p:nvPr/>
        </p:nvSpPr>
        <p:spPr>
          <a:xfrm>
            <a:off x="11793347" y="3911600"/>
            <a:ext cx="4064000" cy="142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Gather ideas, compare</a:t>
            </a:r>
          </a:p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concepts and define</a:t>
            </a:r>
          </a:p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matching requirements</a:t>
            </a:r>
          </a:p>
        </p:txBody>
      </p:sp>
      <p:sp>
        <p:nvSpPr>
          <p:cNvPr id="14" name="member-3-responsibilities">
            <a:extLst>
              <a:ext uri="{FF2B5EF4-FFF2-40B4-BE49-F238E27FC236}">
                <a16:creationId xmlns:a16="http://schemas.microsoft.com/office/drawing/2014/main" id="{0FA7C80F-C652-4546-8295-19D2F56BE411}"/>
              </a:ext>
            </a:extLst>
          </p:cNvPr>
          <p:cNvSpPr>
            <a:spLocks noGrp="1"/>
          </p:cNvSpPr>
          <p:nvPr/>
        </p:nvSpPr>
        <p:spPr>
          <a:xfrm>
            <a:off x="4442206" y="7556500"/>
            <a:ext cx="4064000" cy="142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Coordinate assets, timelines</a:t>
            </a:r>
          </a:p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and demo readiness</a:t>
            </a:r>
          </a:p>
        </p:txBody>
      </p:sp>
      <p:sp>
        <p:nvSpPr>
          <p:cNvPr id="15" name="member-4-responsibilities">
            <a:extLst>
              <a:ext uri="{FF2B5EF4-FFF2-40B4-BE49-F238E27FC236}">
                <a16:creationId xmlns:a16="http://schemas.microsoft.com/office/drawing/2014/main" id="{A3DE448C-8310-44A9-B97C-BE18F97EFECD}"/>
              </a:ext>
            </a:extLst>
          </p:cNvPr>
          <p:cNvSpPr>
            <a:spLocks noGrp="1"/>
          </p:cNvSpPr>
          <p:nvPr/>
        </p:nvSpPr>
        <p:spPr>
          <a:xfrm>
            <a:off x="11793347" y="7556500"/>
            <a:ext cx="4064000" cy="142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Slide checks and</a:t>
            </a:r>
          </a:p>
          <a:p>
            <a:pPr>
              <a:buNone/>
              <a:defRPr sz="180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pPr>
            <a:r>
              <a:t>presentation feedback</a:t>
            </a:r>
          </a:p>
        </p:txBody>
      </p:sp>
    </p:spTree>
    <p:extLst>
      <p:ext uri="{BB962C8B-B14F-4D97-AF65-F5344CB8AC3E}">
        <p14:creationId xmlns:p14="http://schemas.microsoft.com/office/powerpoint/2010/main" val="54935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slide-number">
            <a:extLst>
              <a:ext uri="{FF2B5EF4-FFF2-40B4-BE49-F238E27FC236}">
                <a16:creationId xmlns:a16="http://schemas.microsoft.com/office/drawing/2014/main" id="{087C03BA-5A2B-4316-ADCB-C1685110FA93}"/>
              </a:ext>
            </a:extLst>
          </p:cNvPr>
          <p:cNvSpPr>
            <a:spLocks noGrp="1"/>
          </p:cNvSpPr>
          <p:nvPr/>
        </p:nvSpPr>
        <p:spPr>
          <a:xfrm>
            <a:off x="1028700" y="1054100"/>
            <a:ext cx="3302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6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SLIDE 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9D6105E-0978-47C8-B3AA-847898AE6454}"/>
              </a:ext>
            </a:extLst>
          </p:cNvPr>
          <p:cNvSpPr>
            <a:spLocks noGrp="1"/>
          </p:cNvSpPr>
          <p:nvPr/>
        </p:nvSpPr>
        <p:spPr>
          <a:xfrm>
            <a:off x="4216400" y="1117600"/>
            <a:ext cx="12065000" cy="158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19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ACCEPTMATCH:</a:t>
            </a:r>
          </a:p>
          <a:p>
            <a:pPr>
              <a:buNone/>
              <a:defRPr sz="419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AN AGENTIC RESALE SOLUTION</a:t>
            </a:r>
          </a:p>
        </p:txBody>
      </p:sp>
      <p:sp>
        <p:nvSpPr>
          <p:cNvPr id="9" name="buyer-title">
            <a:extLst>
              <a:ext uri="{FF2B5EF4-FFF2-40B4-BE49-F238E27FC236}">
                <a16:creationId xmlns:a16="http://schemas.microsoft.com/office/drawing/2014/main" id="{5FEF8C3D-A557-4FF7-A7AD-59D5F519A7A2}"/>
              </a:ext>
            </a:extLst>
          </p:cNvPr>
          <p:cNvSpPr>
            <a:spLocks noGrp="1"/>
          </p:cNvSpPr>
          <p:nvPr/>
        </p:nvSpPr>
        <p:spPr>
          <a:xfrm>
            <a:off x="1397000" y="2946400"/>
            <a:ext cx="7493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WHAT THE BUYER ACCEPTS</a:t>
            </a:r>
          </a:p>
        </p:txBody>
      </p:sp>
      <p:sp>
        <p:nvSpPr>
          <p:cNvPr id="10" name="buyer-quote">
            <a:extLst>
              <a:ext uri="{FF2B5EF4-FFF2-40B4-BE49-F238E27FC236}">
                <a16:creationId xmlns:a16="http://schemas.microsoft.com/office/drawing/2014/main" id="{0B3CBC95-CA03-4822-84DF-9829BA5BAC61}"/>
              </a:ext>
            </a:extLst>
          </p:cNvPr>
          <p:cNvSpPr>
            <a:spLocks noGrp="1"/>
          </p:cNvSpPr>
          <p:nvPr/>
        </p:nvSpPr>
        <p:spPr>
          <a:xfrm>
            <a:off x="1397000" y="3492500"/>
            <a:ext cx="7937500" cy="107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“A minor scratch on the back is fine.</a:t>
            </a:r>
          </a:p>
          <a:p>
            <a:pPr>
              <a:defRPr sz="27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The front and zipper must be intact.”</a:t>
            </a:r>
          </a:p>
        </p:txBody>
      </p:sp>
      <p:sp>
        <p:nvSpPr>
          <p:cNvPr id="11" name="agent-inspection-thesis">
            <a:extLst>
              <a:ext uri="{FF2B5EF4-FFF2-40B4-BE49-F238E27FC236}">
                <a16:creationId xmlns:a16="http://schemas.microsoft.com/office/drawing/2014/main" id="{F83BF566-A2EC-4F67-B6CD-5C778BA69EEE}"/>
              </a:ext>
            </a:extLst>
          </p:cNvPr>
          <p:cNvSpPr>
            <a:spLocks noGrp="1"/>
          </p:cNvSpPr>
          <p:nvPr/>
        </p:nvSpPr>
        <p:spPr>
          <a:xfrm>
            <a:off x="1397000" y="4851400"/>
            <a:ext cx="7493000" cy="139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The agent searches specific returned units and chooses missing checks when expected extra recovery covers their cost.</a:t>
            </a:r>
          </a:p>
        </p:txBody>
      </p:sp>
      <p:sp>
        <p:nvSpPr>
          <p:cNvPr id="12" name="mvp-scope">
            <a:extLst>
              <a:ext uri="{FF2B5EF4-FFF2-40B4-BE49-F238E27FC236}">
                <a16:creationId xmlns:a16="http://schemas.microsoft.com/office/drawing/2014/main" id="{823B7C09-F0C7-41EF-9EFD-4C63EB37CBFD}"/>
              </a:ext>
            </a:extLst>
          </p:cNvPr>
          <p:cNvSpPr>
            <a:spLocks noGrp="1"/>
          </p:cNvSpPr>
          <p:nvPr/>
        </p:nvSpPr>
        <p:spPr>
          <a:xfrm>
            <a:off x="1397000" y="6477000"/>
            <a:ext cx="7493000" cy="107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5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MVP: Ten bags with minor cosmetic defects. Human-verified functional condition.</a:t>
            </a:r>
          </a:p>
        </p:txBody>
      </p:sp>
      <p:sp>
        <p:nvSpPr>
          <p:cNvPr id="13" name="tech-stack">
            <a:extLst>
              <a:ext uri="{FF2B5EF4-FFF2-40B4-BE49-F238E27FC236}">
                <a16:creationId xmlns:a16="http://schemas.microsoft.com/office/drawing/2014/main" id="{6147863B-BF07-4EA3-8BCF-78E06B846BF9}"/>
              </a:ext>
            </a:extLst>
          </p:cNvPr>
          <p:cNvSpPr>
            <a:spLocks noGrp="1"/>
          </p:cNvSpPr>
          <p:nvPr/>
        </p:nvSpPr>
        <p:spPr>
          <a:xfrm>
            <a:off x="1397000" y="7747000"/>
            <a:ext cx="74930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Amazon Bedrock + Strands. Tools for matching, inspection tickets, quotes and reservations. Synthetic item IDs, defect records, checks and buyer preferences.</a:t>
            </a:r>
          </a:p>
        </p:txBody>
      </p:sp>
      <p:sp>
        <p:nvSpPr>
          <p:cNvPr id="14" name="case-title">
            <a:extLst>
              <a:ext uri="{FF2B5EF4-FFF2-40B4-BE49-F238E27FC236}">
                <a16:creationId xmlns:a16="http://schemas.microsoft.com/office/drawing/2014/main" id="{6EFA7FD0-6E61-441F-BEE5-C726FF7AE4A3}"/>
              </a:ext>
            </a:extLst>
          </p:cNvPr>
          <p:cNvSpPr>
            <a:spLocks noGrp="1"/>
          </p:cNvSpPr>
          <p:nvPr/>
        </p:nvSpPr>
        <p:spPr>
          <a:xfrm>
            <a:off x="9779000" y="2946400"/>
            <a:ext cx="6858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AM-007: EVIDENCE CHECK</a:t>
            </a:r>
          </a:p>
        </p:txBody>
      </p:sp>
      <p:graphicFrame>
        <p:nvGraphicFramePr>
          <p:cNvPr id="29" name="Table 28"/>
          <p:cNvGraphicFramePr/>
          <p:nvPr/>
        </p:nvGraphicFramePr>
        <p:xfrm>
          <a:off x="9779000" y="3581400"/>
          <a:ext cx="7112000" cy="2816225"/>
        </p:xfrm>
        <a:graphic>
          <a:graphicData uri="http://schemas.openxmlformats.org/drawingml/2006/table">
            <a:tbl>
              <a:tblPr first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Buyer rule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Unit evidence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Agent action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Back scratch</a:t>
                      </a:r>
                    </a:p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Acceptable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Minor scratch</a:t>
                      </a:r>
                    </a:p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Recorded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Keep</a:t>
                      </a:r>
                    </a:p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candidate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Front intact</a:t>
                      </a:r>
                    </a:p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Required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Passed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Keep</a:t>
                      </a:r>
                    </a:p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candidate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Zipper works</a:t>
                      </a:r>
                    </a:p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Required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Unknown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Request</a:t>
                      </a:r>
                    </a:p>
                    <a:p>
                      <a:r>
                        <a:rPr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human check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action-title">
            <a:extLst>
              <a:ext uri="{FF2B5EF4-FFF2-40B4-BE49-F238E27FC236}">
                <a16:creationId xmlns:a16="http://schemas.microsoft.com/office/drawing/2014/main" id="{2E0B60C7-499E-4B8D-900A-6E54D75E341C}"/>
              </a:ext>
            </a:extLst>
          </p:cNvPr>
          <p:cNvSpPr>
            <a:spLocks noGrp="1"/>
          </p:cNvSpPr>
          <p:nvPr/>
        </p:nvSpPr>
        <p:spPr>
          <a:xfrm>
            <a:off x="9779000" y="6629400"/>
            <a:ext cx="7112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THE RESULT CHANGES THE PLAN</a:t>
            </a:r>
          </a:p>
        </p:txBody>
      </p:sp>
      <p:sp>
        <p:nvSpPr>
          <p:cNvPr id="17" name="adaptive-action">
            <a:extLst>
              <a:ext uri="{FF2B5EF4-FFF2-40B4-BE49-F238E27FC236}">
                <a16:creationId xmlns:a16="http://schemas.microsoft.com/office/drawing/2014/main" id="{01509950-2600-42D1-AD78-A63F297CBCE7}"/>
              </a:ext>
            </a:extLst>
          </p:cNvPr>
          <p:cNvSpPr>
            <a:spLocks noGrp="1"/>
          </p:cNvSpPr>
          <p:nvPr/>
        </p:nvSpPr>
        <p:spPr>
          <a:xfrm>
            <a:off x="9779000" y="7150100"/>
            <a:ext cx="7112000" cy="175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5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Pass: show exact-item photos and a policy-approved quote. After confirmation, reserve AM-007 and verify its ID at handover.</a:t>
            </a:r>
          </a:p>
          <a:p>
            <a:pPr>
              <a:defRPr sz="235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Fail: reject this unit and find another candidate.</a:t>
            </a:r>
          </a:p>
        </p:txBody>
      </p:sp>
      <p:sp>
        <p:nvSpPr>
          <p:cNvPr id="18" name="prior-art">
            <a:extLst>
              <a:ext uri="{FF2B5EF4-FFF2-40B4-BE49-F238E27FC236}">
                <a16:creationId xmlns:a16="http://schemas.microsoft.com/office/drawing/2014/main" id="{2D632564-0F0B-41E6-AB01-9827554E2B45}"/>
              </a:ext>
            </a:extLst>
          </p:cNvPr>
          <p:cNvSpPr>
            <a:spLocks noGrp="1"/>
          </p:cNvSpPr>
          <p:nvPr/>
        </p:nvSpPr>
        <p:spPr>
          <a:xfrm>
            <a:off x="1397000" y="9474200"/>
            <a:ext cx="546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50">
                <a:solidFill>
                  <a:srgbClr val="383838"/>
                </a:solidFill>
                <a:latin typeface="Poppins"/>
                <a:ea typeface="Poppins"/>
                <a:cs typeface="Poppins"/>
              </a:defRPr>
            </a:pPr>
            <a:endParaRPr dirty="0">
              <a:hlinkClick r:id="rId3"/>
            </a:endParaRPr>
          </a:p>
        </p:txBody>
      </p:sp>
      <p:sp>
        <p:nvSpPr>
          <p:cNvPr id="19" name="synthetic-demo-label">
            <a:extLst>
              <a:ext uri="{FF2B5EF4-FFF2-40B4-BE49-F238E27FC236}">
                <a16:creationId xmlns:a16="http://schemas.microsoft.com/office/drawing/2014/main" id="{3257890F-4AFA-4F0E-84CC-DD824000A293}"/>
              </a:ext>
            </a:extLst>
          </p:cNvPr>
          <p:cNvSpPr>
            <a:spLocks noGrp="1"/>
          </p:cNvSpPr>
          <p:nvPr/>
        </p:nvSpPr>
        <p:spPr>
          <a:xfrm>
            <a:off x="10033000" y="9474200"/>
            <a:ext cx="6731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50">
                <a:solidFill>
                  <a:srgbClr val="383838"/>
                </a:solidFill>
                <a:latin typeface="Poppins"/>
                <a:ea typeface="Poppins"/>
                <a:cs typeface="Poppin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552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slide-number">
            <a:extLst>
              <a:ext uri="{FF2B5EF4-FFF2-40B4-BE49-F238E27FC236}">
                <a16:creationId xmlns:a16="http://schemas.microsoft.com/office/drawing/2014/main" id="{6CBE213D-52D9-46C8-BF7B-FC68D3C679F6}"/>
              </a:ext>
            </a:extLst>
          </p:cNvPr>
          <p:cNvSpPr>
            <a:spLocks noGrp="1"/>
          </p:cNvSpPr>
          <p:nvPr/>
        </p:nvSpPr>
        <p:spPr>
          <a:xfrm>
            <a:off x="1028700" y="1054100"/>
            <a:ext cx="3302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6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SLIDE 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E66B256-A82C-4512-8E4E-A590D844DE87}"/>
              </a:ext>
            </a:extLst>
          </p:cNvPr>
          <p:cNvSpPr>
            <a:spLocks noGrp="1"/>
          </p:cNvSpPr>
          <p:nvPr/>
        </p:nvSpPr>
        <p:spPr>
          <a:xfrm>
            <a:off x="4216400" y="1117600"/>
            <a:ext cx="12065000" cy="158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19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PROCESS / METHODOLOGY</a:t>
            </a:r>
          </a:p>
          <a:p>
            <a:pPr>
              <a:buNone/>
              <a:defRPr sz="419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TO CREATE THE SOLUTION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1397000" y="2984500"/>
          <a:ext cx="15494000" cy="2819400"/>
        </p:xfrm>
        <a:graphic>
          <a:graphicData uri="http://schemas.openxmlformats.org/drawingml/2006/table">
            <a:tbl>
              <a:tblPr firstRow="1"/>
              <a:tblGrid>
                <a:gridCol w="33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Development phase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Demonstrable output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Owner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1  Define the MVP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Ten synthetic units and buyer-tolerance rules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Hengru + Zikun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2  Build agent tools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Search, inspection, quotes and reservations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Hengru + team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3  Run the demo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Missing check resolved. Exact unit reserved and verified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Yanyu + team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4  Review and pitch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Scenario tests, economics and presentation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Jason + team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agent-title">
            <a:extLst>
              <a:ext uri="{FF2B5EF4-FFF2-40B4-BE49-F238E27FC236}">
                <a16:creationId xmlns:a16="http://schemas.microsoft.com/office/drawing/2014/main" id="{86F053C4-5ACE-419F-BBE2-DF4BF0712E3C}"/>
              </a:ext>
            </a:extLst>
          </p:cNvPr>
          <p:cNvSpPr>
            <a:spLocks noGrp="1"/>
          </p:cNvSpPr>
          <p:nvPr/>
        </p:nvSpPr>
        <p:spPr>
          <a:xfrm>
            <a:off x="1397000" y="6223000"/>
            <a:ext cx="7620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AUTONOMY WITH VISIBLE EVIDENCE</a:t>
            </a:r>
          </a:p>
        </p:txBody>
      </p:sp>
      <p:sp>
        <p:nvSpPr>
          <p:cNvPr id="10" name="agent-loop">
            <a:extLst>
              <a:ext uri="{FF2B5EF4-FFF2-40B4-BE49-F238E27FC236}">
                <a16:creationId xmlns:a16="http://schemas.microsoft.com/office/drawing/2014/main" id="{ADAE3152-A347-48B2-B924-BD22462B4BCF}"/>
              </a:ext>
            </a:extLst>
          </p:cNvPr>
          <p:cNvSpPr>
            <a:spLocks noGrp="1"/>
          </p:cNvSpPr>
          <p:nvPr/>
        </p:nvSpPr>
        <p:spPr>
          <a:xfrm>
            <a:off x="1397000" y="6794500"/>
            <a:ext cx="7620000" cy="191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5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Plan which evidence to collect. Call a tool, observe the result and reassess the candidate. A failed check changes the next action. Log tool calls and cite item, field and rule IDs.</a:t>
            </a:r>
          </a:p>
        </p:txBody>
      </p:sp>
      <p:sp>
        <p:nvSpPr>
          <p:cNvPr id="11" name="authority-title">
            <a:extLst>
              <a:ext uri="{FF2B5EF4-FFF2-40B4-BE49-F238E27FC236}">
                <a16:creationId xmlns:a16="http://schemas.microsoft.com/office/drawing/2014/main" id="{D0E1B467-5A03-4C55-85BA-B177D6E7BABE}"/>
              </a:ext>
            </a:extLst>
          </p:cNvPr>
          <p:cNvSpPr>
            <a:spLocks noGrp="1"/>
          </p:cNvSpPr>
          <p:nvPr/>
        </p:nvSpPr>
        <p:spPr>
          <a:xfrm>
            <a:off x="9779000" y="6223000"/>
            <a:ext cx="7112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AUTHORITY &amp; FAILURE CONTROLS</a:t>
            </a:r>
          </a:p>
        </p:txBody>
      </p:sp>
      <p:sp>
        <p:nvSpPr>
          <p:cNvPr id="12" name="authority-controls">
            <a:extLst>
              <a:ext uri="{FF2B5EF4-FFF2-40B4-BE49-F238E27FC236}">
                <a16:creationId xmlns:a16="http://schemas.microsoft.com/office/drawing/2014/main" id="{D330C120-08E7-4E18-8472-552DE8154D89}"/>
              </a:ext>
            </a:extLst>
          </p:cNvPr>
          <p:cNvSpPr>
            <a:spLocks noGrp="1"/>
          </p:cNvSpPr>
          <p:nvPr/>
        </p:nvSpPr>
        <p:spPr>
          <a:xfrm>
            <a:off x="9779000" y="6794500"/>
            <a:ext cx="7112000" cy="2006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Unknown never counts as passed. Humans verify defects and function. Photos support disclosure. Enforce merchant pricing limits. Reserve after buyer confirmation. Preserve applicable after-sales rights.</a:t>
            </a:r>
          </a:p>
        </p:txBody>
      </p:sp>
    </p:spTree>
    <p:extLst>
      <p:ext uri="{BB962C8B-B14F-4D97-AF65-F5344CB8AC3E}">
        <p14:creationId xmlns:p14="http://schemas.microsoft.com/office/powerpoint/2010/main" val="66077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slide-number">
            <a:extLst>
              <a:ext uri="{FF2B5EF4-FFF2-40B4-BE49-F238E27FC236}">
                <a16:creationId xmlns:a16="http://schemas.microsoft.com/office/drawing/2014/main" id="{15E4BF77-92AB-413E-8E33-5429E8452C04}"/>
              </a:ext>
            </a:extLst>
          </p:cNvPr>
          <p:cNvSpPr>
            <a:spLocks noGrp="1"/>
          </p:cNvSpPr>
          <p:nvPr/>
        </p:nvSpPr>
        <p:spPr>
          <a:xfrm>
            <a:off x="1028700" y="1054100"/>
            <a:ext cx="3302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64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SLIDE 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3B47E3-07E8-4B60-9F46-37E16EFD5154}"/>
              </a:ext>
            </a:extLst>
          </p:cNvPr>
          <p:cNvSpPr>
            <a:spLocks noGrp="1"/>
          </p:cNvSpPr>
          <p:nvPr/>
        </p:nvSpPr>
        <p:spPr>
          <a:xfrm>
            <a:off x="4216400" y="1117600"/>
            <a:ext cx="12065000" cy="158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19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VALUE FOR ALDO GROUP’S</a:t>
            </a:r>
          </a:p>
          <a:p>
            <a:pPr>
              <a:buNone/>
              <a:defRPr sz="419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BUSINESS STAKEHOLDERS</a:t>
            </a:r>
          </a:p>
        </p:txBody>
      </p:sp>
      <p:sp>
        <p:nvSpPr>
          <p:cNvPr id="8" name="business-title">
            <a:extLst>
              <a:ext uri="{FF2B5EF4-FFF2-40B4-BE49-F238E27FC236}">
                <a16:creationId xmlns:a16="http://schemas.microsoft.com/office/drawing/2014/main" id="{C264BA61-8931-42EC-8C27-58180CACDDB8}"/>
              </a:ext>
            </a:extLst>
          </p:cNvPr>
          <p:cNvSpPr>
            <a:spLocks noGrp="1"/>
          </p:cNvSpPr>
          <p:nvPr/>
        </p:nvSpPr>
        <p:spPr>
          <a:xfrm>
            <a:off x="1397000" y="2984500"/>
            <a:ext cx="7493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BUSINESS IMPACT</a:t>
            </a:r>
          </a:p>
        </p:txBody>
      </p:sp>
      <p:sp>
        <p:nvSpPr>
          <p:cNvPr id="9" name="business-thesis">
            <a:extLst>
              <a:ext uri="{FF2B5EF4-FFF2-40B4-BE49-F238E27FC236}">
                <a16:creationId xmlns:a16="http://schemas.microsoft.com/office/drawing/2014/main" id="{836B251D-504A-4E78-8B39-2483077E7D92}"/>
              </a:ext>
            </a:extLst>
          </p:cNvPr>
          <p:cNvSpPr>
            <a:spLocks noGrp="1"/>
          </p:cNvSpPr>
          <p:nvPr/>
        </p:nvSpPr>
        <p:spPr>
          <a:xfrm>
            <a:off x="1397000" y="3530600"/>
            <a:ext cx="7620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Test whether matching exact defects to buyer tolerances supports a higher resale price and fewer repeat returns.</a:t>
            </a:r>
          </a:p>
        </p:txBody>
      </p:sp>
      <p:sp>
        <p:nvSpPr>
          <p:cNvPr id="10" name="experience-title">
            <a:extLst>
              <a:ext uri="{FF2B5EF4-FFF2-40B4-BE49-F238E27FC236}">
                <a16:creationId xmlns:a16="http://schemas.microsoft.com/office/drawing/2014/main" id="{3BDA41A0-C711-4C4A-85E1-4573C7A213A9}"/>
              </a:ext>
            </a:extLst>
          </p:cNvPr>
          <p:cNvSpPr>
            <a:spLocks noGrp="1"/>
          </p:cNvSpPr>
          <p:nvPr/>
        </p:nvSpPr>
        <p:spPr>
          <a:xfrm>
            <a:off x="1397000" y="5245100"/>
            <a:ext cx="7493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USER EXPERIENCE</a:t>
            </a:r>
          </a:p>
        </p:txBody>
      </p:sp>
      <p:sp>
        <p:nvSpPr>
          <p:cNvPr id="11" name="customer-experience">
            <a:extLst>
              <a:ext uri="{FF2B5EF4-FFF2-40B4-BE49-F238E27FC236}">
                <a16:creationId xmlns:a16="http://schemas.microsoft.com/office/drawing/2014/main" id="{95F2F330-4DA2-474E-880F-A4F9078066B6}"/>
              </a:ext>
            </a:extLst>
          </p:cNvPr>
          <p:cNvSpPr>
            <a:spLocks noGrp="1"/>
          </p:cNvSpPr>
          <p:nvPr/>
        </p:nvSpPr>
        <p:spPr>
          <a:xfrm>
            <a:off x="1397000" y="5791200"/>
            <a:ext cx="7620000" cy="124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0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Disclose the actual defect, photos and check results before purchase. Verify the same item at delivery.</a:t>
            </a:r>
          </a:p>
        </p:txBody>
      </p:sp>
      <p:sp>
        <p:nvSpPr>
          <p:cNvPr id="12" name="economics-title">
            <a:extLst>
              <a:ext uri="{FF2B5EF4-FFF2-40B4-BE49-F238E27FC236}">
                <a16:creationId xmlns:a16="http://schemas.microsoft.com/office/drawing/2014/main" id="{0726ADE6-886E-4EE5-B394-FA59B8B4B68A}"/>
              </a:ext>
            </a:extLst>
          </p:cNvPr>
          <p:cNvSpPr>
            <a:spLocks noGrp="1"/>
          </p:cNvSpPr>
          <p:nvPr/>
        </p:nvSpPr>
        <p:spPr>
          <a:xfrm>
            <a:off x="9779000" y="2984500"/>
            <a:ext cx="7112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NET RECOVERY COMPARISON</a:t>
            </a:r>
          </a:p>
        </p:txBody>
      </p:sp>
      <p:graphicFrame>
        <p:nvGraphicFramePr>
          <p:cNvPr id="25" name="Table 24"/>
          <p:cNvGraphicFramePr/>
          <p:nvPr/>
        </p:nvGraphicFramePr>
        <p:xfrm>
          <a:off x="9779000" y="3530600"/>
          <a:ext cx="7112000" cy="3652520"/>
        </p:xfrm>
        <a:graphic>
          <a:graphicData uri="http://schemas.openxmlformats.org/drawingml/2006/table">
            <a:tbl>
              <a:tblPr firstRow="1"/>
              <a:tblGrid>
                <a:gridCol w="32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USD per sold item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Uniform</a:t>
                      </a:r>
                    </a:p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markdown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AcceptMatch</a:t>
                      </a:r>
                    </a:p>
                  </a:txBody>
                  <a:tcPr marL="101600" marR="101600" marT="50800" marB="50800" anchor="ctr">
                    <a:solidFill>
                      <a:srgbClr val="604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Resale proceeds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45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60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Inspection cost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1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4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Fulfillment cost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5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5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Expected repeat-return cost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6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3</a:t>
                      </a:r>
                    </a:p>
                  </a:txBody>
                  <a:tcPr marL="101600" marR="101600" marT="50800" marB="508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60463D"/>
                          </a:solidFill>
                          <a:latin typeface="Poppins"/>
                          <a:ea typeface="Poppins"/>
                          <a:cs typeface="Poppins"/>
                        </a:rPr>
                        <a:t>Net recovery</a:t>
                      </a:r>
                    </a:p>
                  </a:txBody>
                  <a:tcPr marL="101600" marR="101600" marT="50800" marB="50800" anchor="ctr">
                    <a:solidFill>
                      <a:srgbClr val="EEE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60463D"/>
                          </a:solidFill>
                          <a:latin typeface="Poppins"/>
                          <a:ea typeface="Poppins"/>
                          <a:cs typeface="Poppins"/>
                        </a:rPr>
                        <a:t>33</a:t>
                      </a:r>
                    </a:p>
                  </a:txBody>
                  <a:tcPr marL="101600" marR="101600" marT="50800" marB="50800" anchor="ctr">
                    <a:solidFill>
                      <a:srgbClr val="EEE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60463D"/>
                          </a:solidFill>
                          <a:latin typeface="Poppins"/>
                          <a:ea typeface="Poppins"/>
                          <a:cs typeface="Poppins"/>
                        </a:rPr>
                        <a:t>48</a:t>
                      </a:r>
                    </a:p>
                  </a:txBody>
                  <a:tcPr marL="101600" marR="101600" marT="50800" marB="50800" anchor="ctr">
                    <a:solidFill>
                      <a:srgbClr val="EEE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economics-disclosure">
            <a:extLst>
              <a:ext uri="{FF2B5EF4-FFF2-40B4-BE49-F238E27FC236}">
                <a16:creationId xmlns:a16="http://schemas.microsoft.com/office/drawing/2014/main" id="{F73EEAB2-CFE2-456B-9894-FED1AAEC8002}"/>
              </a:ext>
            </a:extLst>
          </p:cNvPr>
          <p:cNvSpPr>
            <a:spLocks noGrp="1"/>
          </p:cNvSpPr>
          <p:nvPr/>
        </p:nvSpPr>
        <p:spPr>
          <a:xfrm>
            <a:off x="9779000" y="7378700"/>
            <a:ext cx="7112000" cy="660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450">
                <a:solidFill>
                  <a:srgbClr val="383838"/>
                </a:solidFill>
                <a:latin typeface="Poppins"/>
                <a:ea typeface="Poppins"/>
                <a:cs typeface="Poppins"/>
              </a:defRPr>
            </a:pPr>
            <a:r>
              <a:t>Illustrative synthetic assumptions. No measured uplift.</a:t>
            </a:r>
          </a:p>
          <a:p>
            <a:pPr>
              <a:defRPr sz="1450">
                <a:solidFill>
                  <a:srgbClr val="383838"/>
                </a:solidFill>
                <a:latin typeface="Poppins"/>
                <a:ea typeface="Poppins"/>
                <a:cs typeface="Poppins"/>
              </a:defRPr>
            </a:pPr>
            <a:r>
              <a:t>Net recovery: proceeds less the three cost lines above.</a:t>
            </a:r>
          </a:p>
        </p:txBody>
      </p:sp>
      <p:sp>
        <p:nvSpPr>
          <p:cNvPr id="15" name="alignment-title">
            <a:extLst>
              <a:ext uri="{FF2B5EF4-FFF2-40B4-BE49-F238E27FC236}">
                <a16:creationId xmlns:a16="http://schemas.microsoft.com/office/drawing/2014/main" id="{5B4D50E6-20B1-4AD8-BFCF-4A1ED8E4CBB0}"/>
              </a:ext>
            </a:extLst>
          </p:cNvPr>
          <p:cNvSpPr>
            <a:spLocks noGrp="1"/>
          </p:cNvSpPr>
          <p:nvPr/>
        </p:nvSpPr>
        <p:spPr>
          <a:xfrm>
            <a:off x="1397000" y="7670800"/>
            <a:ext cx="15240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60463D"/>
                </a:solidFill>
                <a:latin typeface="Poppins"/>
                <a:ea typeface="Poppins"/>
                <a:cs typeface="Poppins"/>
              </a:defRPr>
            </a:pPr>
            <a:r>
              <a:t>STRATEGIC ALIGNMENT &amp; VALIDATION</a:t>
            </a:r>
          </a:p>
        </p:txBody>
      </p:sp>
      <p:sp>
        <p:nvSpPr>
          <p:cNvPr id="16" name="pilot-validation">
            <a:extLst>
              <a:ext uri="{FF2B5EF4-FFF2-40B4-BE49-F238E27FC236}">
                <a16:creationId xmlns:a16="http://schemas.microsoft.com/office/drawing/2014/main" id="{67EBD418-8F35-41B9-81E7-6DAFD1220978}"/>
              </a:ext>
            </a:extLst>
          </p:cNvPr>
          <p:cNvSpPr>
            <a:spLocks noGrp="1"/>
          </p:cNvSpPr>
          <p:nvPr/>
        </p:nvSpPr>
        <p:spPr>
          <a:xfrm>
            <a:off x="1397000" y="8089900"/>
            <a:ext cx="15494000" cy="109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t>Compare the same ten units. Track recovery per available unit, conversion, repeat returns and resale time. Include unsold units and agent costs. Scale only if margin and customer outcomes improve.</a:t>
            </a:r>
          </a:p>
        </p:txBody>
      </p:sp>
    </p:spTree>
    <p:extLst>
      <p:ext uri="{BB962C8B-B14F-4D97-AF65-F5344CB8AC3E}">
        <p14:creationId xmlns:p14="http://schemas.microsoft.com/office/powerpoint/2010/main" val="19221637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Macintosh PowerPoint</Application>
  <DocSecurity>0</DocSecurity>
  <PresentationFormat>Custom</PresentationFormat>
  <Paragraphs>107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Poppins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Hengru Zhou</cp:lastModifiedBy>
  <cp:revision>2</cp:revision>
  <dcterms:created xsi:type="dcterms:W3CDTF">2026-10-04T14:36:38Z</dcterms:created>
  <dcterms:modified xsi:type="dcterms:W3CDTF">2026-10-04T15:38:05Z</dcterms:modified>
</cp:coreProperties>
</file>